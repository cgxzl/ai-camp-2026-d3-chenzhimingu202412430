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0a13a4ea2084f94" Type="http://schemas.openxmlformats.org/officeDocument/2006/relationships/extended-properties" Target="docProps/app.xml"/><Relationship Id="R098bfba894e2479d" Type="http://schemas.openxmlformats.org/officeDocument/2006/relationships/officeDocument" Target="ppt/presentation.xml"/><Relationship Id="R65851e71e0db4407" Type="http://schemas.openxmlformats.org/officeDocument/2006/relationships/custom-properties" Target="docProps/custom.xml"/><Relationship Id="Rfedc41f63bbd4a6b" Type="http://schemas.openxmlformats.org/package/2006/relationships/metadata/core-properties" Target="docProps/core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bb6e41e017be4c9a"/>
  </p:notesMasterIdLst>
  <p:sldIdLst>
    <p:sldId id="256" r:id="Rf8354318c9c74574"/>
    <p:sldId id="260" r:id="rId8"/>
    <p:sldId id="261" r:id="rId9"/>
    <p:sldId id="257" r:id="R57dc5e550f954a64"/>
    <p:sldId id="262" r:id="rId10"/>
    <p:sldId id="258" r:id="Rba0ee6944f0e495e"/>
    <p:sldId id="263" r:id="rId11"/>
    <p:sldId id="259" r:id="Rc074b649b6c447f7"/>
  </p:sldIdLst>
  <p:sldSz cx="12192000" cy="6858000"/>
  <p:notesSz cx="6858000" cy="9144000"/>
</p:presentation>
</file>

<file path=ppt/_rels/presentation.xml.rels><?xml version='1.0' encoding='UTF-8' standalone='yes'?>
<Relationships xmlns="http://schemas.openxmlformats.org/package/2006/relationships"><Relationship Id="R57dc5e550f954a64" Type="http://schemas.openxmlformats.org/officeDocument/2006/relationships/slide" Target="slides/slide2.xml"/><Relationship Id="Rba0ee6944f0e495e" Type="http://schemas.openxmlformats.org/officeDocument/2006/relationships/slide" Target="slides/slide3.xml"/><Relationship Id="Rbb6e41e017be4c9a" Type="http://schemas.openxmlformats.org/officeDocument/2006/relationships/notesMaster" Target="notesMasters/notesMaster1.xml"/><Relationship Id="Rc074b649b6c447f7" Type="http://schemas.openxmlformats.org/officeDocument/2006/relationships/slide" Target="slides/slide4.xml"/><Relationship Id="Rf8354318c9c74574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776bcb2bdf06442e" Type="http://schemas.openxmlformats.org/officeDocument/2006/relationships/theme" Target="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86615b4e46d4e1e" Type="http://schemas.openxmlformats.org/officeDocument/2006/relationships/slide" Target="../slides/slide1.xml"/><Relationship Id="R3a643b3f2eb44b05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b46c2d71fb04c34" Type="http://schemas.openxmlformats.org/officeDocument/2006/relationships/notesMaster" Target="../notesMasters/notesMaster1.xml"/><Relationship Id="R404e4e3675a5495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2e209912104471f" Type="http://schemas.openxmlformats.org/officeDocument/2006/relationships/slide" Target="../slides/slide3.xml"/><Relationship Id="R3e3738f8e2d74ff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7ea70d56cfb8482e" Type="http://schemas.openxmlformats.org/officeDocument/2006/relationships/notesMaster" Target="../notesMasters/notesMaster1.xml"/><Relationship Id="R8d245a087b6a4cb9" Type="http://schemas.openxmlformats.org/officeDocument/2006/relationships/slide" Target="../slides/slide4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先说使用者和问题，不讲课程日名称代替问题。指出真实输入和产品边界。目标 30 秒。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说明基线为何简单、候选只复杂哪一步，以及比较条件如何保持相同。目标 45 秒。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只选择一条最能回答问题的证据。说出命令、指标含义和一个真实样本。目标 60 秒。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用失败收尾，明确不能声称什么和下一项最小检查。不要说泛泛的“数据不够”。目标 45 秒。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edba8ea63124930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d35a1e0a25cb4130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fb8969c20ffe4c8f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448023f1a8d643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fd4bf08e9eb543d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8bc315336deb4de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<?xml version='1.0' encoding='UTF-8' standalone='yes'?>
<Relationships xmlns="http://schemas.openxmlformats.org/package/2006/relationships"><Relationship Id="R44a45034051e4ef9" Type="http://schemas.openxmlformats.org/officeDocument/2006/relationships/notesSlide" Target="../notesSlides/notesSlide1.xml"/><Relationship Id="Raefebeb3045e49b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273428f4bf784ab7" Type="http://schemas.openxmlformats.org/officeDocument/2006/relationships/notesSlide" Target="../notesSlides/notesSlide2.xml"/><Relationship Id="R7844c19829c34b0c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6ba6474a54994b41" Type="http://schemas.openxmlformats.org/officeDocument/2006/relationships/slideLayout" Target="../slideLayouts/slideLayout1.xml"/><Relationship Id="R83c9e05996514fc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3082804f6d3f4b95" Type="http://schemas.openxmlformats.org/officeDocument/2006/relationships/notesSlide" Target="../notesSlides/notesSlide4.xml"/><Relationship Id="R840776f45b3c4f3b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B45"/>
        </a:solidFill>
      </p:bgPr>
    </p:bg>
    <p:spTree>
      <p:nvGrpSpPr>
        <p:cNvPr id="1" name=""/>
        <p:cNvGrpSpPr/>
        <p:nvPr/>
      </p:nvGrpSpPr>
      <p:grpSpPr/>
      <p:sp>
        <p:nvSpPr>
          <p:cNvPr id="100000" name="HeroNumber"/>
          <p:cNvSpPr/>
          <p:nvPr/>
        </p:nvSpPr>
        <p:spPr>
          <a:xfrm xmlns:a="http://schemas.openxmlformats.org/drawingml/2006/main">
            <a:off x="720000" y="1080000"/>
            <a:ext cx="1800000" cy="18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600" b="1">
                <a:solidFill>
                  <a:srgbClr val="FFFFFF"/>
                </a:solidFill>
                <a:latin typeface="Microsoft YaHei"/>
                <a:ea typeface="Microsoft YaHei"/>
              </a:rPr>
              <a:t>D3</a:t>
            </a:r>
          </a:p>
        </p:txBody>
      </p:sp>
      <p:sp>
        <p:nvSpPr>
          <p:cNvPr id="100001" name="CoverTitle"/>
          <p:cNvSpPr txBox="1"/>
          <p:nvPr/>
        </p:nvSpPr>
        <p:spPr>
          <a:xfrm xmlns:a="http://schemas.openxmlformats.org/drawingml/2006/main">
            <a:off x="2952000" y="1152000"/>
            <a:ext cx="8460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预测下一小时家庭用电</a:t>
            </a:r>
          </a:p>
        </p:txBody>
      </p:sp>
      <p:sp>
        <p:nvSpPr>
          <p:cNvPr id="100002" name="CoverBody"/>
          <p:cNvSpPr txBox="1"/>
          <p:nvPr/>
        </p:nvSpPr>
        <p:spPr>
          <a:xfrm xmlns:a="http://schemas.openxmlformats.org/drawingml/2006/main">
            <a:off x="2952000" y="2160000"/>
            <a:ext cx="792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2200" b="0">
                <a:solidFill>
                  <a:srgbClr val="D6F5EE"/>
                </a:solidFill>
                <a:latin typeface="Microsoft YaHei"/>
                <a:ea typeface="Microsoft YaHei"/>
              </a:rPr>
              <a:t>用真实单户分钟用电记录，比较持续性基线与固定随机森林候选，预测下一小时平均功率，并诚实解释真实失败。</a:t>
            </a:r>
          </a:p>
        </p:txBody>
      </p:sp>
      <p:sp>
        <p:nvSpPr>
          <p:cNvPr id="100003" name="CoverMeta"/>
          <p:cNvSpPr txBox="1"/>
          <p:nvPr/>
        </p:nvSpPr>
        <p:spPr>
          <a:xfrm xmlns:a="http://schemas.openxmlformats.org/drawingml/2006/main">
            <a:off x="2952000" y="4572000"/>
            <a:ext cx="72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1600" b="1">
                <a:solidFill>
                  <a:srgbClr val="8DDDD0"/>
                </a:solidFill>
                <a:latin typeface="Microsoft YaHei"/>
                <a:ea typeface="Microsoft YaHei"/>
              </a:rPr>
              <a:t>AI 工程营 · 每日 3 分钟答辩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/>
      <p:sp>
        <p:nvSpPr>
          <p:cNvPr id="100004" name="Kicker"/>
          <p:cNvSpPr txBox="1"/>
          <p:nvPr/>
        </p:nvSpPr>
        <p:spPr>
          <a:xfrm xmlns:a="http://schemas.openxmlformats.org/drawingml/2006/main">
            <a:off x="540000" y="252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1400" b="1">
                <a:solidFill>
                  <a:srgbClr val="028090"/>
                </a:solidFill>
                <a:latin typeface="Microsoft YaHei"/>
                <a:ea typeface="Microsoft YaHei"/>
              </a:rPr>
              <a:t>03 · 方法与基线</a:t>
            </a:r>
          </a:p>
        </p:txBody>
      </p:sp>
      <p:sp>
        <p:nvSpPr>
          <p:cNvPr id="100005" name="Title"/>
          <p:cNvSpPr txBox="1"/>
          <p:nvPr/>
        </p:nvSpPr>
        <p:spPr>
          <a:xfrm xmlns:a="http://schemas.openxmlformats.org/drawingml/2006/main">
            <a:off x="540000" y="558000"/>
            <a:ext cx="1098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3800" b="1">
                <a:solidFill>
                  <a:srgbClr val="183B45"/>
                </a:solidFill>
                <a:latin typeface="Microsoft YaHei"/>
                <a:ea typeface="Microsoft YaHei"/>
              </a:rPr>
              <a:t>方法与简单基线</a:t>
            </a:r>
          </a:p>
        </p:txBody>
      </p:sp>
      <p:sp>
        <p:nvSpPr>
          <p:cNvPr id="100006" name="PageMark"/>
          <p:cNvSpPr/>
          <p:nvPr/>
        </p:nvSpPr>
        <p:spPr>
          <a:xfrm xmlns:a="http://schemas.openxmlformats.org/drawingml/2006/main">
            <a:off x="11232000" y="252000"/>
            <a:ext cx="396000" cy="39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7" name="Input"/>
          <p:cNvSpPr/>
          <p:nvPr/>
        </p:nvSpPr>
        <p:spPr>
          <a:xfrm xmlns:a="http://schemas.openxmlformats.org/drawingml/2006/main">
            <a:off x="540000" y="2160000"/>
            <a:ext cx="2988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F4E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200" b="1">
                <a:solidFill>
                  <a:srgbClr val="123A3A"/>
                </a:solidFill>
                <a:latin typeface="Microsoft YaHei"/>
                <a:ea typeface="Microsoft YaHei"/>
              </a:rPr>
              <a:t>数据划分</a:t>
            </a:r>
          </a:p>
          <a:p xmlns:a="http://schemas.openxmlformats.org/drawingml/2006/main">
            <a:pPr algn="ctr"/>
            <a:r>
              <a:rPr lang="zh-CN" sz="2200" b="1">
                <a:solidFill>
                  <a:srgbClr val="123A3A"/>
                </a:solidFill>
                <a:latin typeface="Microsoft YaHei"/>
                <a:ea typeface="Microsoft YaHei"/>
              </a:rPr>
              <a:t>前 80% 训练 / 后 20% 测试（496 小时），严格按时间先后</a:t>
            </a:r>
          </a:p>
        </p:txBody>
      </p:sp>
      <p:sp>
        <p:nvSpPr>
          <p:cNvPr id="100008" name="Baseline"/>
          <p:cNvSpPr/>
          <p:nvPr/>
        </p:nvSpPr>
        <p:spPr>
          <a:xfrm xmlns:a="http://schemas.openxmlformats.org/drawingml/2006/main">
            <a:off x="4572000" y="2160000"/>
            <a:ext cx="2988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9E8F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200" b="1">
                <a:solidFill>
                  <a:srgbClr val="173F5F"/>
                </a:solidFill>
                <a:latin typeface="Microsoft YaHei"/>
                <a:ea typeface="Microsoft YaHei"/>
              </a:rPr>
              <a:t>简单基线</a:t>
            </a:r>
          </a:p>
          <a:p xmlns:a="http://schemas.openxmlformats.org/drawingml/2006/main">
            <a:pPr algn="ctr"/>
            <a:r>
              <a:rPr lang="zh-CN" sz="2200" b="1">
                <a:solidFill>
                  <a:srgbClr val="173F5F"/>
                </a:solidFill>
                <a:latin typeface="Microsoft YaHei"/>
                <a:ea typeface="Microsoft YaHei"/>
              </a:rPr>
              <a:t>用最近一小时功率预测下一小时，零学习、可解释</a:t>
            </a:r>
          </a:p>
        </p:txBody>
      </p:sp>
      <p:sp>
        <p:nvSpPr>
          <p:cNvPr id="100009" name="Candidate"/>
          <p:cNvSpPr/>
          <p:nvPr/>
        </p:nvSpPr>
        <p:spPr>
          <a:xfrm xmlns:a="http://schemas.openxmlformats.org/drawingml/2006/main">
            <a:off x="8604000" y="2160000"/>
            <a:ext cx="2988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E4C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200" b="1">
                <a:solidFill>
                  <a:srgbClr val="6B3E16"/>
                </a:solidFill>
                <a:latin typeface="Microsoft YaHei"/>
                <a:ea typeface="Microsoft YaHei"/>
              </a:rPr>
              <a:t>同条件比较</a:t>
            </a:r>
          </a:p>
          <a:p xmlns:a="http://schemas.openxmlformats.org/drawingml/2006/main">
            <a:pPr algn="ctr"/>
            <a:r>
              <a:rPr lang="zh-CN" sz="2200" b="1">
                <a:solidFill>
                  <a:srgbClr val="6B3E16"/>
                </a:solidFill>
                <a:latin typeface="Microsoft YaHei"/>
                <a:ea typeface="Microsoft YaHei"/>
              </a:rPr>
              <a:t>基线与候选在同一测试区间、同一指标上比较</a:t>
            </a:r>
          </a:p>
        </p:txBody>
      </p:sp>
      <p:sp>
        <p:nvSpPr>
          <p:cNvPr id="100010" name="MethodPrompt"/>
          <p:cNvSpPr txBox="1"/>
          <p:nvPr/>
        </p:nvSpPr>
        <p:spPr>
          <a:xfrm xmlns:a="http://schemas.openxmlformats.org/drawingml/2006/main">
            <a:off x="1080000" y="4680000"/>
            <a:ext cx="10008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000" b="0">
                <a:solidFill>
                  <a:srgbClr val="39545B"/>
                </a:solidFill>
                <a:latin typeface="Microsoft YaHei"/>
                <a:ea typeface="Microsoft YaHei"/>
              </a:rPr>
              <a:t>特征只用预测时刻以前的 lag_1/2/3/24 与 hour_of_day，不引入未来信息。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1" name="Kicker"/>
          <p:cNvSpPr txBox="1"/>
          <p:nvPr/>
        </p:nvSpPr>
        <p:spPr>
          <a:xfrm xmlns:a="http://schemas.openxmlformats.org/drawingml/2006/main">
            <a:off x="540000" y="252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1400" b="1">
                <a:solidFill>
                  <a:srgbClr val="028090"/>
                </a:solidFill>
                <a:latin typeface="Microsoft YaHei"/>
                <a:ea typeface="Microsoft YaHei"/>
              </a:rPr>
              <a:t>05 · 最重要证据</a:t>
            </a:r>
          </a:p>
        </p:txBody>
      </p:sp>
      <p:sp>
        <p:nvSpPr>
          <p:cNvPr id="100012" name="Title"/>
          <p:cNvSpPr txBox="1"/>
          <p:nvPr/>
        </p:nvSpPr>
        <p:spPr>
          <a:xfrm xmlns:a="http://schemas.openxmlformats.org/drawingml/2006/main">
            <a:off x="540000" y="558000"/>
            <a:ext cx="1098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3800" b="1">
                <a:solidFill>
                  <a:srgbClr val="183B45"/>
                </a:solidFill>
                <a:latin typeface="Microsoft YaHei"/>
                <a:ea typeface="Microsoft YaHei"/>
              </a:rPr>
              <a:t>最重要证据：主指标</a:t>
            </a:r>
          </a:p>
        </p:txBody>
      </p:sp>
      <p:sp>
        <p:nvSpPr>
          <p:cNvPr id="100013" name="PageMark"/>
          <p:cNvSpPr/>
          <p:nvPr/>
        </p:nvSpPr>
        <p:spPr>
          <a:xfrm xmlns:a="http://schemas.openxmlformats.org/drawingml/2006/main">
            <a:off x="11232000" y="252000"/>
            <a:ext cx="396000" cy="39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4" name="Metric"/>
          <p:cNvSpPr/>
          <p:nvPr/>
        </p:nvSpPr>
        <p:spPr>
          <a:xfrm xmlns:a="http://schemas.openxmlformats.org/drawingml/2006/main">
            <a:off x="540000" y="1800000"/>
            <a:ext cx="5292000" cy="22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3B4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主指标</a:t>
            </a:r>
          </a:p>
          <a:p xmlns:a="http://schemas.openxmlformats.org/drawingml/2006/main">
            <a:pPr algn="ctr"/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MAE：基线 0.794 → 候选 0.573 kW（496 小时测试）</a:t>
            </a:r>
          </a:p>
        </p:txBody>
      </p:sp>
      <p:sp>
        <p:nvSpPr>
          <p:cNvPr id="100015" name="Case"/>
          <p:cNvSpPr/>
          <p:nvPr/>
        </p:nvSpPr>
        <p:spPr>
          <a:xfrm xmlns:a="http://schemas.openxmlformats.org/drawingml/2006/main">
            <a:off x="6156000" y="1800000"/>
            <a:ext cx="5436000" cy="22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200" b="1">
                <a:solidFill>
                  <a:srgbClr val="083B35"/>
                </a:solidFill>
                <a:latin typeface="Microsoft YaHei"/>
                <a:ea typeface="Microsoft YaHei"/>
              </a:rPr>
              <a:t>高需求告警</a:t>
            </a:r>
          </a:p>
          <a:p xmlns:a="http://schemas.openxmlformats.org/drawingml/2006/main">
            <a:pPr algn="ctr"/>
            <a:r>
              <a:rPr lang="zh-CN" sz="2200" b="1">
                <a:solidFill>
                  <a:srgbClr val="083B35"/>
                </a:solidFill>
                <a:latin typeface="Microsoft YaHei"/>
                <a:ea typeface="Microsoft YaHei"/>
              </a:rPr>
              <a:t>误报 31→9；但两模型召回率均 0.184（38 个高需求小时只认出 7 个）</a:t>
            </a:r>
          </a:p>
        </p:txBody>
      </p:sp>
      <p:sp>
        <p:nvSpPr>
          <p:cNvPr id="100016" name="EvidencePrompt"/>
          <p:cNvSpPr txBox="1"/>
          <p:nvPr/>
        </p:nvSpPr>
        <p:spPr>
          <a:xfrm xmlns:a="http://schemas.openxmlformats.org/drawingml/2006/main">
            <a:off x="792000" y="4680000"/>
            <a:ext cx="10584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000" b="0">
                <a:solidFill>
                  <a:srgbClr val="39545B"/>
                </a:solidFill>
                <a:latin typeface="Microsoft YaHei"/>
                <a:ea typeface="Microsoft YaHei"/>
              </a:rPr>
              <a:t>数字由 python analyze.py 用真实数据、固定种子重复产生，见 metrics.json。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83B45"/>
        </a:solidFill>
      </p:bgPr>
    </p:bg>
    <p:spTree>
      <p:nvGrpSpPr>
        <p:cNvPr id="1" name=""/>
        <p:cNvGrpSpPr/>
        <p:nvPr/>
      </p:nvGrpSpPr>
      <p:grpSpPr/>
      <p:sp>
        <p:nvSpPr>
          <p:cNvPr id="100017" name="EndTitle"/>
          <p:cNvSpPr txBox="1"/>
          <p:nvPr/>
        </p:nvSpPr>
        <p:spPr>
          <a:xfrm xmlns:a="http://schemas.openxmlformats.org/drawingml/2006/main">
            <a:off x="540000" y="504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3800" b="1">
                <a:solidFill>
                  <a:srgbClr val="FFFFFF"/>
                </a:solidFill>
                <a:latin typeface="Microsoft YaHei"/>
                <a:ea typeface="Microsoft YaHei"/>
              </a:rPr>
              <a:t>失败、限制与下一步</a:t>
            </a:r>
          </a:p>
        </p:txBody>
      </p:sp>
      <p:sp>
        <p:nvSpPr>
          <p:cNvPr id="100018" name="Failure"/>
          <p:cNvSpPr/>
          <p:nvPr/>
        </p:nvSpPr>
        <p:spPr>
          <a:xfrm xmlns:a="http://schemas.openxmlformats.org/drawingml/2006/main">
            <a:off x="540000" y="1800000"/>
            <a:ext cx="3456000" cy="20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E4C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100" b="1">
                <a:solidFill>
                  <a:srgbClr val="6B3E16"/>
                </a:solidFill>
                <a:latin typeface="Microsoft YaHei"/>
                <a:ea typeface="Microsoft YaHei"/>
              </a:rPr>
              <a:t>一个真实失败</a:t>
            </a:r>
          </a:p>
          <a:p xmlns:a="http://schemas.openxmlformats.org/drawingml/2006/main">
            <a:pPr algn="ctr"/>
            <a:r>
              <a:rPr lang="zh-CN" sz="2100" b="1">
                <a:solidFill>
                  <a:srgbClr val="6B3E16"/>
                </a:solidFill>
                <a:latin typeface="Microsoft YaHei"/>
                <a:ea typeface="Microsoft YaHei"/>
              </a:rPr>
              <a:t>滞后模型对突增/突降失准：骤降案例误差 3.22 kW</a:t>
            </a:r>
          </a:p>
        </p:txBody>
      </p:sp>
      <p:sp>
        <p:nvSpPr>
          <p:cNvPr id="100019" name="Limit"/>
          <p:cNvSpPr/>
          <p:nvPr/>
        </p:nvSpPr>
        <p:spPr>
          <a:xfrm xmlns:a="http://schemas.openxmlformats.org/drawingml/2006/main">
            <a:off x="4374000" y="1800000"/>
            <a:ext cx="3456000" cy="20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F4E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100" b="1">
                <a:solidFill>
                  <a:srgbClr val="123A3A"/>
                </a:solidFill>
                <a:latin typeface="Microsoft YaHei"/>
                <a:ea typeface="Microsoft YaHei"/>
              </a:rPr>
              <a:t>证据不支持什么</a:t>
            </a:r>
          </a:p>
          <a:p xmlns:a="http://schemas.openxmlformats.org/drawingml/2006/main">
            <a:pPr algn="ctr"/>
            <a:r>
              <a:rPr lang="zh-CN" sz="2100" b="1">
                <a:solidFill>
                  <a:srgbClr val="123A3A"/>
                </a:solidFill>
                <a:latin typeface="Microsoft YaHei"/>
                <a:ea typeface="Microsoft YaHei"/>
              </a:rPr>
              <a:t>单户数据≠其他家庭；不能用于电网控制或安全告警</a:t>
            </a:r>
          </a:p>
        </p:txBody>
      </p:sp>
      <p:sp>
        <p:nvSpPr>
          <p:cNvPr id="100020" name="Next"/>
          <p:cNvSpPr/>
          <p:nvPr/>
        </p:nvSpPr>
        <p:spPr>
          <a:xfrm xmlns:a="http://schemas.openxmlformats.org/drawingml/2006/main">
            <a:off x="8208000" y="1800000"/>
            <a:ext cx="3456000" cy="20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9E8F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100" b="1">
                <a:solidFill>
                  <a:srgbClr val="173F5F"/>
                </a:solidFill>
                <a:latin typeface="Microsoft YaHei"/>
                <a:ea typeface="Microsoft YaHei"/>
              </a:rPr>
              <a:t>下一项最小检查</a:t>
            </a:r>
          </a:p>
          <a:p xmlns:a="http://schemas.openxmlformats.org/drawingml/2006/main">
            <a:pPr algn="ctr"/>
            <a:r>
              <a:rPr lang="zh-CN" sz="2100" b="1">
                <a:solidFill>
                  <a:srgbClr val="173F5F"/>
                </a:solidFill>
                <a:latin typeface="Microsoft YaHei"/>
                <a:ea typeface="Microsoft YaHei"/>
              </a:rPr>
              <a:t>加入 lag_24 或功率变化率特征，观察最大误差是否下降</a:t>
            </a:r>
          </a:p>
        </p:txBody>
      </p:sp>
      <p:sp>
        <p:nvSpPr>
          <p:cNvPr id="100021" name="EndMeta"/>
          <p:cNvSpPr txBox="1"/>
          <p:nvPr/>
        </p:nvSpPr>
        <p:spPr>
          <a:xfrm xmlns:a="http://schemas.openxmlformats.org/drawingml/2006/main">
            <a:off x="720000" y="4680000"/>
            <a:ext cx="10764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1900" b="1">
                <a:solidFill>
                  <a:srgbClr val="D6F5EE"/>
                </a:solidFill>
                <a:latin typeface="Microsoft YaHei"/>
                <a:ea typeface="Microsoft YaHei"/>
              </a:rPr>
              <a:t>结论：候选平均误差优于基线，但高需求告警两者同样不足。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/>
      <p:grpSpPr/>
      <p:sp>
        <p:nvSpPr>
          <p:cNvPr id="100004" name="Kicker"/>
          <p:cNvSpPr txBox="1"/>
          <p:nvPr/>
        </p:nvSpPr>
        <p:spPr>
          <a:xfrm>
            <a:off x="540000" y="252000"/>
            <a:ext cx="5400000" cy="288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sz="1400" b="1">
                <a:solidFill>
                  <a:srgbClr val="028090"/>
                </a:solidFill>
                <a:latin typeface="Microsoft YaHei"/>
                <a:ea typeface="Microsoft YaHei"/>
              </a:rPr>
              <a:t>01 · 问题与使用者</a:t>
            </a:r>
          </a:p>
        </p:txBody>
      </p:sp>
      <p:sp>
        <p:nvSpPr>
          <p:cNvPr id="100005" name="Title"/>
          <p:cNvSpPr txBox="1"/>
          <p:nvPr/>
        </p:nvSpPr>
        <p:spPr>
          <a:xfrm>
            <a:off x="540000" y="558000"/>
            <a:ext cx="10980000" cy="756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sz="3800" b="1">
                <a:solidFill>
                  <a:srgbClr val="183B45"/>
                </a:solidFill>
                <a:latin typeface="Microsoft YaHei"/>
                <a:ea typeface="Microsoft YaHei"/>
              </a:rPr>
              <a:t>问题与使用者</a:t>
            </a:r>
          </a:p>
        </p:txBody>
      </p:sp>
      <p:sp>
        <p:nvSpPr>
          <p:cNvPr id="100006" name="PageMark"/>
          <p:cNvSpPr/>
          <p:nvPr/>
        </p:nvSpPr>
        <p:spPr>
          <a:xfrm>
            <a:off x="11232000" y="252000"/>
            <a:ext cx="396000" cy="3960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07" name="Input"/>
          <p:cNvSpPr/>
          <p:nvPr/>
        </p:nvSpPr>
        <p:spPr>
          <a:xfrm>
            <a:off x="540000" y="2160000"/>
            <a:ext cx="2988000" cy="1800000"/>
          </a:xfrm>
          <a:prstGeom prst="roundRect">
            <a:avLst/>
          </a:prstGeom>
          <a:solidFill>
            <a:srgbClr val="D7F4EE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sz="2200" b="1">
                <a:solidFill>
                  <a:srgbClr val="123A3A"/>
                </a:solidFill>
                <a:latin typeface="Microsoft YaHei"/>
                <a:ea typeface="Microsoft YaHei"/>
              </a:rPr>
              <a:t>使用者</a:t>
            </a:r>
          </a:p>
          <a:p>
            <a:pPr algn="ctr"/>
            <a:r>
              <a:rPr lang="zh-CN" sz="2200" b="1">
                <a:solidFill>
                  <a:srgbClr val="123A3A"/>
                </a:solidFill>
                <a:latin typeface="Microsoft YaHei"/>
                <a:ea typeface="Microsoft YaHei"/>
              </a:rPr>
              <a:t>家庭能源研究小组：想提前看到用电变化，但不能依赖昂贵系统</a:t>
            </a:r>
          </a:p>
        </p:txBody>
      </p:sp>
      <p:sp>
        <p:nvSpPr>
          <p:cNvPr id="100008" name="Baseline"/>
          <p:cNvSpPr/>
          <p:nvPr/>
        </p:nvSpPr>
        <p:spPr>
          <a:xfrm>
            <a:off x="4572000" y="2160000"/>
            <a:ext cx="2988000" cy="1800000"/>
          </a:xfrm>
          <a:prstGeom prst="roundRect">
            <a:avLst/>
          </a:prstGeom>
          <a:solidFill>
            <a:srgbClr val="C9E8F2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sz="2200" b="1">
                <a:solidFill>
                  <a:srgbClr val="173F5F"/>
                </a:solidFill>
                <a:latin typeface="Microsoft YaHei"/>
                <a:ea typeface="Microsoft YaHei"/>
              </a:rPr>
              <a:t>核心任务</a:t>
            </a:r>
          </a:p>
          <a:p>
            <a:pPr algn="ctr"/>
            <a:r>
              <a:rPr lang="zh-CN" sz="2200" b="1">
                <a:solidFill>
                  <a:srgbClr val="173F5F"/>
                </a:solidFill>
                <a:latin typeface="Microsoft YaHei"/>
                <a:ea typeface="Microsoft YaHei"/>
              </a:rPr>
              <a:t>比较持续性基线与候选模型，预测下一小时平均功率</a:t>
            </a:r>
          </a:p>
        </p:txBody>
      </p:sp>
      <p:sp>
        <p:nvSpPr>
          <p:cNvPr id="100009" name="Candidate"/>
          <p:cNvSpPr/>
          <p:nvPr/>
        </p:nvSpPr>
        <p:spPr>
          <a:xfrm>
            <a:off x="8604000" y="2160000"/>
            <a:ext cx="2988000" cy="1800000"/>
          </a:xfrm>
          <a:prstGeom prst="roundRect">
            <a:avLst/>
          </a:prstGeom>
          <a:solidFill>
            <a:srgbClr val="FBE4C8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sz="2200" b="1">
                <a:solidFill>
                  <a:srgbClr val="6B3E16"/>
                </a:solidFill>
                <a:latin typeface="Microsoft YaHei"/>
                <a:ea typeface="Microsoft YaHei"/>
              </a:rPr>
              <a:t>需要的输出</a:t>
            </a:r>
          </a:p>
          <a:p>
            <a:pPr algn="ctr"/>
            <a:r>
              <a:rPr lang="zh-CN" sz="2200" b="1">
                <a:solidFill>
                  <a:srgbClr val="6B3E16"/>
                </a:solidFill>
                <a:latin typeface="Microsoft YaHei"/>
                <a:ea typeface="Microsoft YaHei"/>
              </a:rPr>
              <a:t>MAE、最大误差时刻、高需求告警与真实失败案例</a:t>
            </a:r>
          </a:p>
        </p:txBody>
      </p:sp>
      <p:sp>
        <p:nvSpPr>
          <p:cNvPr id="100010" name="MethodPrompt"/>
          <p:cNvSpPr txBox="1"/>
          <p:nvPr/>
        </p:nvSpPr>
        <p:spPr>
          <a:xfrm>
            <a:off x="1080000" y="4680000"/>
            <a:ext cx="10008000" cy="540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ctr"/>
            <a:r>
              <a:rPr lang="zh-CN" sz="2000" b="0">
                <a:solidFill>
                  <a:srgbClr val="39545B"/>
                </a:solidFill>
                <a:latin typeface="Microsoft YaHei"/>
                <a:ea typeface="Microsoft YaHei"/>
              </a:rPr>
              <a:t>产品边界：一户历史数据不能代表其他家庭，也不能直接用于电网控制或安全告警。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/>
      <p:grpSpPr/>
      <p:sp>
        <p:nvSpPr>
          <p:cNvPr id="100004" name="Kicker"/>
          <p:cNvSpPr txBox="1"/>
          <p:nvPr/>
        </p:nvSpPr>
        <p:spPr>
          <a:xfrm>
            <a:off x="540000" y="252000"/>
            <a:ext cx="5400000" cy="288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sz="1400" b="1">
                <a:solidFill>
                  <a:srgbClr val="028090"/>
                </a:solidFill>
                <a:latin typeface="Microsoft YaHei"/>
                <a:ea typeface="Microsoft YaHei"/>
              </a:rPr>
              <a:t>02 · 真实数据</a:t>
            </a:r>
          </a:p>
        </p:txBody>
      </p:sp>
      <p:sp>
        <p:nvSpPr>
          <p:cNvPr id="100005" name="Title"/>
          <p:cNvSpPr txBox="1"/>
          <p:nvPr/>
        </p:nvSpPr>
        <p:spPr>
          <a:xfrm>
            <a:off x="540000" y="558000"/>
            <a:ext cx="10980000" cy="756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sz="3800" b="1">
                <a:solidFill>
                  <a:srgbClr val="183B45"/>
                </a:solidFill>
                <a:latin typeface="Microsoft YaHei"/>
                <a:ea typeface="Microsoft YaHei"/>
              </a:rPr>
              <a:t>真实数据</a:t>
            </a:r>
          </a:p>
        </p:txBody>
      </p:sp>
      <p:sp>
        <p:nvSpPr>
          <p:cNvPr id="100006" name="PageMark"/>
          <p:cNvSpPr/>
          <p:nvPr/>
        </p:nvSpPr>
        <p:spPr>
          <a:xfrm>
            <a:off x="11232000" y="252000"/>
            <a:ext cx="396000" cy="3960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07" name="Input"/>
          <p:cNvSpPr/>
          <p:nvPr/>
        </p:nvSpPr>
        <p:spPr>
          <a:xfrm>
            <a:off x="540000" y="2160000"/>
            <a:ext cx="2988000" cy="1800000"/>
          </a:xfrm>
          <a:prstGeom prst="roundRect">
            <a:avLst/>
          </a:prstGeom>
          <a:solidFill>
            <a:srgbClr val="D7F4EE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sz="2200" b="1">
                <a:solidFill>
                  <a:srgbClr val="123A3A"/>
                </a:solidFill>
                <a:latin typeface="Microsoft YaHei"/>
                <a:ea typeface="Microsoft YaHei"/>
              </a:rPr>
              <a:t>来源</a:t>
            </a:r>
          </a:p>
          <a:p>
            <a:pPr algn="ctr"/>
            <a:r>
              <a:rPr lang="zh-CN" sz="2200" b="1">
                <a:solidFill>
                  <a:srgbClr val="123A3A"/>
                </a:solidFill>
                <a:latin typeface="Microsoft YaHei"/>
                <a:ea typeface="Microsoft YaHei"/>
              </a:rPr>
              <a:t>Kaggle：Individual household electric power consumption</a:t>
            </a:r>
          </a:p>
        </p:txBody>
      </p:sp>
      <p:sp>
        <p:nvSpPr>
          <p:cNvPr id="100008" name="Baseline"/>
          <p:cNvSpPr/>
          <p:nvPr/>
        </p:nvSpPr>
        <p:spPr>
          <a:xfrm>
            <a:off x="4572000" y="2160000"/>
            <a:ext cx="2988000" cy="1800000"/>
          </a:xfrm>
          <a:prstGeom prst="roundRect">
            <a:avLst/>
          </a:prstGeom>
          <a:solidFill>
            <a:srgbClr val="C9E8F2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sz="2200" b="1">
                <a:solidFill>
                  <a:srgbClr val="173F5F"/>
                </a:solidFill>
                <a:latin typeface="Microsoft YaHei"/>
                <a:ea typeface="Microsoft YaHei"/>
              </a:rPr>
              <a:t>数据检查</a:t>
            </a:r>
          </a:p>
          <a:p>
            <a:pPr algn="ctr"/>
            <a:r>
              <a:rPr lang="zh-CN" sz="2200" b="1">
                <a:solidFill>
                  <a:srgbClr val="173F5F"/>
                </a:solidFill>
                <a:latin typeface="Microsoft YaHei"/>
                <a:ea typeface="Microsoft YaHei"/>
              </a:rPr>
              <a:t>analyze.py --check-data 通过：rows 2,075,259，9 列</a:t>
            </a:r>
          </a:p>
        </p:txBody>
      </p:sp>
      <p:sp>
        <p:nvSpPr>
          <p:cNvPr id="100009" name="Candidate"/>
          <p:cNvSpPr/>
          <p:nvPr/>
        </p:nvSpPr>
        <p:spPr>
          <a:xfrm>
            <a:off x="8604000" y="2160000"/>
            <a:ext cx="2988000" cy="1800000"/>
          </a:xfrm>
          <a:prstGeom prst="roundRect">
            <a:avLst/>
          </a:prstGeom>
          <a:solidFill>
            <a:srgbClr val="FBE4C8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sz="2200" b="1">
                <a:solidFill>
                  <a:srgbClr val="6B3E16"/>
                </a:solidFill>
                <a:latin typeface="Microsoft YaHei"/>
                <a:ea typeface="Microsoft YaHei"/>
              </a:rPr>
              <a:t>教室窗口</a:t>
            </a:r>
          </a:p>
          <a:p>
            <a:pPr algn="ctr"/>
            <a:r>
              <a:rPr lang="zh-CN" sz="2200" b="1">
                <a:solidFill>
                  <a:srgbClr val="6B3E16"/>
                </a:solidFill>
                <a:latin typeface="Microsoft YaHei"/>
                <a:ea typeface="Microsoft YaHei"/>
              </a:rPr>
              <a:t>前 150,000 分钟 → 2,501 小时平均功率（2006-12 至 2007-03）</a:t>
            </a:r>
          </a:p>
        </p:txBody>
      </p:sp>
      <p:sp>
        <p:nvSpPr>
          <p:cNvPr id="100010" name="MethodPrompt"/>
          <p:cNvSpPr txBox="1"/>
          <p:nvPr/>
        </p:nvSpPr>
        <p:spPr>
          <a:xfrm>
            <a:off x="1080000" y="4680000"/>
            <a:ext cx="10008000" cy="540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ctr"/>
            <a:r>
              <a:rPr lang="zh-CN" sz="2000" b="0">
                <a:solidFill>
                  <a:srgbClr val="39545B"/>
                </a:solidFill>
                <a:latin typeface="Microsoft YaHei"/>
                <a:ea typeface="Microsoft YaHei"/>
              </a:rPr>
              <a:t>25,979 个缺失的 Global_active_power 分钟值已在聚合前丢弃；只使用课程指定来源，不生成替代数据。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/>
      <p:grpSpPr/>
      <p:sp>
        <p:nvSpPr>
          <p:cNvPr id="100004" name="Kicker"/>
          <p:cNvSpPr txBox="1"/>
          <p:nvPr/>
        </p:nvSpPr>
        <p:spPr>
          <a:xfrm>
            <a:off x="540000" y="252000"/>
            <a:ext cx="5400000" cy="288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sz="1400" b="1">
                <a:solidFill>
                  <a:srgbClr val="028090"/>
                </a:solidFill>
                <a:latin typeface="Microsoft YaHei"/>
                <a:ea typeface="Microsoft YaHei"/>
              </a:rPr>
              <a:t>04 · 候选方法</a:t>
            </a:r>
          </a:p>
        </p:txBody>
      </p:sp>
      <p:sp>
        <p:nvSpPr>
          <p:cNvPr id="100005" name="Title"/>
          <p:cNvSpPr txBox="1"/>
          <p:nvPr/>
        </p:nvSpPr>
        <p:spPr>
          <a:xfrm>
            <a:off x="540000" y="558000"/>
            <a:ext cx="10980000" cy="756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sz="3800" b="1">
                <a:solidFill>
                  <a:srgbClr val="183B45"/>
                </a:solidFill>
                <a:latin typeface="Microsoft YaHei"/>
                <a:ea typeface="Microsoft YaHei"/>
              </a:rPr>
              <a:t>候选方法</a:t>
            </a:r>
          </a:p>
        </p:txBody>
      </p:sp>
      <p:sp>
        <p:nvSpPr>
          <p:cNvPr id="100006" name="PageMark"/>
          <p:cNvSpPr/>
          <p:nvPr/>
        </p:nvSpPr>
        <p:spPr>
          <a:xfrm>
            <a:off x="11232000" y="252000"/>
            <a:ext cx="396000" cy="3960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07" name="Input"/>
          <p:cNvSpPr/>
          <p:nvPr/>
        </p:nvSpPr>
        <p:spPr>
          <a:xfrm>
            <a:off x="540000" y="2160000"/>
            <a:ext cx="2988000" cy="1800000"/>
          </a:xfrm>
          <a:prstGeom prst="roundRect">
            <a:avLst/>
          </a:prstGeom>
          <a:solidFill>
            <a:srgbClr val="D7F4EE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sz="2200" b="1">
                <a:solidFill>
                  <a:srgbClr val="123A3A"/>
                </a:solidFill>
                <a:latin typeface="Microsoft YaHei"/>
                <a:ea typeface="Microsoft YaHei"/>
              </a:rPr>
              <a:t>模型</a:t>
            </a:r>
          </a:p>
          <a:p>
            <a:pPr algn="ctr"/>
            <a:r>
              <a:rPr lang="zh-CN" sz="2200" b="1">
                <a:solidFill>
                  <a:srgbClr val="123A3A"/>
                </a:solidFill>
                <a:latin typeface="Microsoft YaHei"/>
                <a:ea typeface="Microsoft YaHei"/>
              </a:rPr>
              <a:t>RandomForestRegressor，n_estimators=100</a:t>
            </a:r>
          </a:p>
        </p:txBody>
      </p:sp>
      <p:sp>
        <p:nvSpPr>
          <p:cNvPr id="100008" name="Baseline"/>
          <p:cNvSpPr/>
          <p:nvPr/>
        </p:nvSpPr>
        <p:spPr>
          <a:xfrm>
            <a:off x="4572000" y="2160000"/>
            <a:ext cx="2988000" cy="1800000"/>
          </a:xfrm>
          <a:prstGeom prst="roundRect">
            <a:avLst/>
          </a:prstGeom>
          <a:solidFill>
            <a:srgbClr val="C9E8F2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sz="2200" b="1">
                <a:solidFill>
                  <a:srgbClr val="173F5F"/>
                </a:solidFill>
                <a:latin typeface="Microsoft YaHei"/>
                <a:ea typeface="Microsoft YaHei"/>
              </a:rPr>
              <a:t>固定种子</a:t>
            </a:r>
          </a:p>
          <a:p>
            <a:pPr algn="ctr"/>
            <a:r>
              <a:rPr lang="zh-CN" sz="2200" b="1">
                <a:solidFill>
                  <a:srgbClr val="173F5F"/>
                </a:solidFill>
                <a:latin typeface="Microsoft YaHei"/>
                <a:ea typeface="Microsoft YaHei"/>
              </a:rPr>
              <a:t>random_state=42，结果可复现</a:t>
            </a:r>
          </a:p>
        </p:txBody>
      </p:sp>
      <p:sp>
        <p:nvSpPr>
          <p:cNvPr id="100009" name="Candidate"/>
          <p:cNvSpPr/>
          <p:nvPr/>
        </p:nvSpPr>
        <p:spPr>
          <a:xfrm>
            <a:off x="8604000" y="2160000"/>
            <a:ext cx="2988000" cy="1800000"/>
          </a:xfrm>
          <a:prstGeom prst="roundRect">
            <a:avLst/>
          </a:prstGeom>
          <a:solidFill>
            <a:srgbClr val="FBE4C8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sz="2200" b="1">
                <a:solidFill>
                  <a:srgbClr val="6B3E16"/>
                </a:solidFill>
                <a:latin typeface="Microsoft YaHei"/>
                <a:ea typeface="Microsoft YaHei"/>
              </a:rPr>
              <a:t>核心改动</a:t>
            </a:r>
          </a:p>
          <a:p>
            <a:pPr algn="ctr"/>
            <a:r>
              <a:rPr lang="zh-CN" sz="2200" b="1">
                <a:solidFill>
                  <a:srgbClr val="6B3E16"/>
                </a:solidFill>
                <a:latin typeface="Microsoft YaHei"/>
                <a:ea typeface="Microsoft YaHei"/>
              </a:rPr>
              <a:t>实现 make_lagged 滞后特征与 build_candidate</a:t>
            </a:r>
          </a:p>
        </p:txBody>
      </p:sp>
      <p:sp>
        <p:nvSpPr>
          <p:cNvPr id="100010" name="MethodPrompt"/>
          <p:cNvSpPr txBox="1"/>
          <p:nvPr/>
        </p:nvSpPr>
        <p:spPr>
          <a:xfrm>
            <a:off x="1080000" y="4680000"/>
            <a:ext cx="10008000" cy="540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ctr"/>
            <a:r>
              <a:rPr lang="zh-CN" sz="2000" b="0">
                <a:solidFill>
                  <a:srgbClr val="39545B"/>
                </a:solidFill>
                <a:latin typeface="Microsoft YaHei"/>
                <a:ea typeface="Microsoft YaHei"/>
              </a:rPr>
              <a:t>只增加这一步复杂度；不随机调参，不改数据、划分或指标来追求更好看的数字。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grpSpPr/>
      <p:sp>
        <p:nvSpPr>
          <p:cNvPr id="100011" name="Kicker"/>
          <p:cNvSpPr txBox="1"/>
          <p:nvPr/>
        </p:nvSpPr>
        <p:spPr>
          <a:xfrm>
            <a:off x="540000" y="252000"/>
            <a:ext cx="5400000" cy="288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sz="1400" b="1">
                <a:solidFill>
                  <a:srgbClr val="028090"/>
                </a:solidFill>
                <a:latin typeface="Microsoft YaHei"/>
                <a:ea typeface="Microsoft YaHei"/>
              </a:rPr>
              <a:t>06 · 真实失败案例</a:t>
            </a:r>
          </a:p>
        </p:txBody>
      </p:sp>
      <p:sp>
        <p:nvSpPr>
          <p:cNvPr id="100012" name="Title"/>
          <p:cNvSpPr txBox="1"/>
          <p:nvPr/>
        </p:nvSpPr>
        <p:spPr>
          <a:xfrm>
            <a:off x="540000" y="558000"/>
            <a:ext cx="10980000" cy="756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sz="3800" b="1">
                <a:solidFill>
                  <a:srgbClr val="183B45"/>
                </a:solidFill>
                <a:latin typeface="Microsoft YaHei"/>
                <a:ea typeface="Microsoft YaHei"/>
              </a:rPr>
              <a:t>最重要证据：真实失败案例</a:t>
            </a:r>
          </a:p>
        </p:txBody>
      </p:sp>
      <p:sp>
        <p:nvSpPr>
          <p:cNvPr id="100013" name="PageMark"/>
          <p:cNvSpPr/>
          <p:nvPr/>
        </p:nvSpPr>
        <p:spPr>
          <a:xfrm>
            <a:off x="11232000" y="252000"/>
            <a:ext cx="396000" cy="3960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4" name="Metric"/>
          <p:cNvSpPr/>
          <p:nvPr/>
        </p:nvSpPr>
        <p:spPr>
          <a:xfrm>
            <a:off x="540000" y="1800000"/>
            <a:ext cx="5292000" cy="2268000"/>
          </a:xfrm>
          <a:prstGeom prst="roundRect">
            <a:avLst/>
          </a:prstGeom>
          <a:solidFill>
            <a:srgbClr val="183B45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真实失败案例</a:t>
            </a:r>
          </a:p>
          <a:p>
            <a:pPr algn="ctr"/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2007-03-28 17:00：真实 0.386 kW，预测 3.606 kW，误差 3.22 kW</a:t>
            </a:r>
          </a:p>
        </p:txBody>
      </p:sp>
      <p:sp>
        <p:nvSpPr>
          <p:cNvPr id="100015" name="Case"/>
          <p:cNvSpPr/>
          <p:nvPr/>
        </p:nvSpPr>
        <p:spPr>
          <a:xfrm>
            <a:off x="6156000" y="1800000"/>
            <a:ext cx="5436000" cy="226800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sz="2200" b="1">
                <a:solidFill>
                  <a:srgbClr val="083B35"/>
                </a:solidFill>
                <a:latin typeface="Microsoft YaHei"/>
                <a:ea typeface="Microsoft YaHei"/>
              </a:rPr>
              <a:t>为什么重要</a:t>
            </a:r>
          </a:p>
          <a:p>
            <a:pPr algn="ctr"/>
            <a:r>
              <a:rPr lang="zh-CN" sz="2200" b="1">
                <a:solidFill>
                  <a:srgbClr val="083B35"/>
                </a:solidFill>
                <a:latin typeface="Microsoft YaHei"/>
                <a:ea typeface="Microsoft YaHei"/>
              </a:rPr>
              <a:t>滞后模型只会重复过去，对突然的负荷骤降/骤升严重失准</a:t>
            </a:r>
          </a:p>
        </p:txBody>
      </p:sp>
      <p:sp>
        <p:nvSpPr>
          <p:cNvPr id="100016" name="EvidencePrompt"/>
          <p:cNvSpPr txBox="1"/>
          <p:nvPr/>
        </p:nvSpPr>
        <p:spPr>
          <a:xfrm>
            <a:off x="792000" y="4680000"/>
            <a:ext cx="10584000" cy="540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ctr"/>
            <a:r>
              <a:rPr lang="zh-CN" sz="2000" b="0">
                <a:solidFill>
                  <a:srgbClr val="39545B"/>
                </a:solidFill>
                <a:latin typeface="Microsoft YaHei"/>
                <a:ea typeface="Microsoft YaHei"/>
              </a:rPr>
              <a:t>来自 largest_errors.csv 第一行；另一案例 2007-03-11 12:00 骤升低估（真实 3.31 / 预测 0.77）。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2026-08-11T15:34:49Z</dcterms:created>
  <cp:lastModifiedBy>OfficeCLI</cp:lastModifiedBy>
  <dcterms:modified xsi:type="dcterms:W3CDTF">2026-08-11T15:34:49Z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2026-08-11T15:35:06Z</vt:lpwstr>
  </op:property>
</op:Properties>
</file>